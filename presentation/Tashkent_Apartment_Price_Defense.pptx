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06324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56616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51846"/>
                </a:solidFill>
                <a:latin typeface="Aptos"/>
              </a:rPr>
              <a:t>AI/ML CAPSTONE  /  INDIVIDUAL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-182880"/>
            <a:ext cx="1645920" cy="164592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30000" y="6126480"/>
            <a:ext cx="914400" cy="91440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274320" y="6217920"/>
            <a:ext cx="1005840" cy="100584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27080" y="320040"/>
            <a:ext cx="777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51846"/>
                </a:solidFill>
                <a:latin typeface="Aptos"/>
              </a:rPr>
              <a:t>Slide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6583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051846"/>
                </a:solidFill>
                <a:latin typeface="Aptos"/>
              </a:rPr>
              <a:t>TASHKENT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65836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900" b="1">
                <a:solidFill>
                  <a:srgbClr val="0D5BFF"/>
                </a:solidFill>
                <a:latin typeface="Aptos"/>
              </a:rPr>
              <a:t>APARTMENT PRICE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70048"/>
            <a:ext cx="65836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100" b="1">
                <a:solidFill>
                  <a:srgbClr val="051846"/>
                </a:solidFill>
                <a:latin typeface="Aptos"/>
              </a:rPr>
              <a:t>PREDICTOR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11880"/>
            <a:ext cx="6675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637599"/>
                </a:solidFill>
                <a:latin typeface="Aptos"/>
              </a:rPr>
              <a:t>Dilnura Hamdamova  •  AI/ML Fundamentals Capstone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252728"/>
            <a:ext cx="4160520" cy="2880360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54112" y="1609344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D5BFF"/>
                </a:solidFill>
                <a:latin typeface="Aptos"/>
              </a:rPr>
              <a:t>PROJECT IN ONE 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54112" y="2084831"/>
            <a:ext cx="3355848" cy="1353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51846"/>
                </a:solidFill>
                <a:latin typeface="Aptos"/>
              </a:rPr>
              <a:t>Estimate a current August 2026 Tashkent apartment asking price from observable listing attributes.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54112" y="3694176"/>
            <a:ext cx="3337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D03748"/>
                </a:solidFill>
                <a:latin typeface="Aptos"/>
              </a:rPr>
              <a:t>Reference estimate — not an appraisal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892040"/>
            <a:ext cx="2148840" cy="1078992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056631"/>
            <a:ext cx="19659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0D5BFF"/>
                </a:solidFill>
                <a:latin typeface="Aptos"/>
              </a:rPr>
              <a:t>4,214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577840"/>
            <a:ext cx="1965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37599"/>
                </a:solidFill>
                <a:latin typeface="Aptos"/>
              </a:rPr>
              <a:t>MODELING ROWS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71800" y="4892040"/>
            <a:ext cx="2148840" cy="1078992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63240" y="5056631"/>
            <a:ext cx="19659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0D5BFF"/>
                </a:solidFill>
                <a:latin typeface="Aptos"/>
              </a:rPr>
              <a:t>RF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5577840"/>
            <a:ext cx="1965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37599"/>
                </a:solidFill>
                <a:latin typeface="Aptos"/>
              </a:rPr>
              <a:t>SELECTED MODEL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49240" y="4892040"/>
            <a:ext cx="2148840" cy="1078992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0D9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40679" y="5056631"/>
            <a:ext cx="19659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0D9D59"/>
                </a:solidFill>
                <a:latin typeface="Aptos"/>
              </a:rPr>
              <a:t>0.681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79" y="5577840"/>
            <a:ext cx="1965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37599"/>
                </a:solidFill>
                <a:latin typeface="Aptos"/>
              </a:rPr>
              <a:t>TEST R²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26679" y="4892040"/>
            <a:ext cx="2148840" cy="1078992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0D9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19" y="5056631"/>
            <a:ext cx="19659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0D9D59"/>
                </a:solidFill>
                <a:latin typeface="Aptos"/>
              </a:rPr>
              <a:t>$27,195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19" y="5577840"/>
            <a:ext cx="1965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37599"/>
                </a:solidFill>
                <a:latin typeface="Aptos"/>
              </a:rPr>
              <a:t>TEST MAE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06324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56616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51846"/>
                </a:solidFill>
                <a:latin typeface="Aptos"/>
              </a:rPr>
              <a:t>AI/ML CAPSTONE  /  PROBLEM + TASK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-182880"/>
            <a:ext cx="1645920" cy="164592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30000" y="6126480"/>
            <a:ext cx="914400" cy="91440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274320" y="6217920"/>
            <a:ext cx="1005840" cy="100584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27080" y="320040"/>
            <a:ext cx="777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51846"/>
                </a:solidFill>
                <a:latin typeface="Aptos"/>
              </a:rPr>
              <a:t>Slide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932688"/>
            <a:ext cx="11247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51846"/>
                </a:solidFill>
                <a:latin typeface="Aptos"/>
              </a:rPr>
              <a:t>WHO NEEDS IT — AND WHAT DOES ML DO?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600200"/>
            <a:ext cx="109728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37599"/>
                </a:solidFill>
                <a:latin typeface="Aptos"/>
              </a:rPr>
              <a:t>Lock the user, input, output, and boundary in under 45 seconds.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48840"/>
            <a:ext cx="3520440" cy="24871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7512" y="2313432"/>
            <a:ext cx="310896" cy="310896"/>
          </a:xfrm>
          <a:prstGeom prst="ellipse">
            <a:avLst/>
          </a:prstGeom>
          <a:solidFill>
            <a:srgbClr val="0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2313432"/>
            <a:ext cx="28072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D5BFF"/>
                </a:solidFill>
                <a:latin typeface="Aptos"/>
              </a:rPr>
              <a:t>USER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2788920"/>
            <a:ext cx="3118104" cy="1719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51846"/>
                </a:solidFill>
                <a:latin typeface="Aptos"/>
              </a:rPr>
              <a:t>Buyers, sellers, agents, and analysts who need a consistent August 2026 reference estimate.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4256" y="2148840"/>
            <a:ext cx="3520440" cy="24871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B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98848" y="2313432"/>
            <a:ext cx="310896" cy="310896"/>
          </a:xfrm>
          <a:prstGeom prst="ellipse">
            <a:avLst/>
          </a:prstGeom>
          <a:solidFill>
            <a:srgbClr val="2B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01184" y="2313432"/>
            <a:ext cx="28072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BB8FF"/>
                </a:solidFill>
                <a:latin typeface="Aptos"/>
              </a:rPr>
              <a:t>SUPERVISED REGRESSION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788920"/>
            <a:ext cx="3118104" cy="1719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51846"/>
                </a:solidFill>
                <a:latin typeface="Aptos"/>
              </a:rPr>
              <a:t>Inputs: district, size, rooms, apartment level, building levels, new-build/resale.
Target: asking price.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65592" y="2148840"/>
            <a:ext cx="3520440" cy="24871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30183" y="2313432"/>
            <a:ext cx="310896" cy="310896"/>
          </a:xfrm>
          <a:prstGeom prst="ellipse">
            <a:avLst/>
          </a:prstGeom>
          <a:solidFill>
            <a:srgbClr val="0D9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2519" y="2313432"/>
            <a:ext cx="28072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D9D59"/>
                </a:solidFill>
                <a:latin typeface="Aptos"/>
              </a:rPr>
              <a:t>OUTPUT +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788920"/>
            <a:ext cx="3118104" cy="1719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51846"/>
                </a:solidFill>
                <a:latin typeface="Aptos"/>
              </a:rPr>
              <a:t>One estimated August 2026 asking price in USD, plus warnings.
Not a completed sale price, guarantee, or legal appraisal.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08760" y="5074920"/>
            <a:ext cx="9144000" cy="777240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83080" y="5294376"/>
            <a:ext cx="8595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0D5BFF"/>
                </a:solidFill>
                <a:latin typeface="Aptos"/>
              </a:rPr>
              <a:t>RAW APARTMENT  →  VALIDATED PIPELINE  →  USD ESTIMATE + WARNING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06324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56616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51846"/>
                </a:solidFill>
                <a:latin typeface="Aptos"/>
              </a:rPr>
              <a:t>AI/ML CAPSTONE  /  DATA +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-182880"/>
            <a:ext cx="1645920" cy="164592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30000" y="6126480"/>
            <a:ext cx="914400" cy="91440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274320" y="6217920"/>
            <a:ext cx="1005840" cy="100584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27080" y="320040"/>
            <a:ext cx="777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51846"/>
                </a:solidFill>
                <a:latin typeface="Aptos"/>
              </a:rPr>
              <a:t>Slide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932688"/>
            <a:ext cx="11247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51846"/>
                </a:solidFill>
                <a:latin typeface="Aptos"/>
              </a:rPr>
              <a:t>FROM 4,867 LISTINGS TO A GROUP-SAFE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600200"/>
            <a:ext cx="109728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37599"/>
                </a:solidFill>
                <a:latin typeface="Aptos"/>
              </a:rPr>
              <a:t>Privacy-minimized public HATA snapshot from August 2026.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2121408"/>
            <a:ext cx="196596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" y="2286000"/>
            <a:ext cx="310896" cy="310896"/>
          </a:xfrm>
          <a:prstGeom prst="ellipse">
            <a:avLst/>
          </a:prstGeom>
          <a:solidFill>
            <a:srgbClr val="0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" y="2286000"/>
            <a:ext cx="12527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D5BFF"/>
                </a:solidFill>
                <a:latin typeface="Aptos"/>
              </a:rPr>
              <a:t>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2761487"/>
            <a:ext cx="1563624" cy="1243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51846"/>
                </a:solidFill>
                <a:latin typeface="Aptos"/>
              </a:rPr>
              <a:t>4,867 parsed
11 districts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816352"/>
            <a:ext cx="3108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0D5BFF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07208" y="2121408"/>
            <a:ext cx="196596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71800" y="2286000"/>
            <a:ext cx="310896" cy="310896"/>
          </a:xfrm>
          <a:prstGeom prst="ellipse">
            <a:avLst/>
          </a:prstGeom>
          <a:solidFill>
            <a:srgbClr val="0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74136" y="2286000"/>
            <a:ext cx="12527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D5BFF"/>
                </a:solidFill>
                <a:latin typeface="Aptos"/>
              </a:rPr>
              <a:t>CLEAN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8376" y="2761487"/>
            <a:ext cx="1563624" cy="1243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51846"/>
                </a:solidFill>
                <a:latin typeface="Aptos"/>
              </a:rPr>
              <a:t>257 invalid + 396
duplicates removed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816352"/>
            <a:ext cx="3108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0D5BFF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38927" y="2121408"/>
            <a:ext cx="196596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303519" y="2286000"/>
            <a:ext cx="310896" cy="310896"/>
          </a:xfrm>
          <a:prstGeom prst="ellipse">
            <a:avLst/>
          </a:prstGeom>
          <a:solidFill>
            <a:srgbClr val="0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05855" y="2286000"/>
            <a:ext cx="12527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D5BFF"/>
                </a:solidFill>
                <a:latin typeface="Aptos"/>
              </a:rPr>
              <a:t>SPLIT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0095" y="2761487"/>
            <a:ext cx="1563624" cy="1243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51846"/>
                </a:solidFill>
                <a:latin typeface="Aptos"/>
              </a:rPr>
              <a:t>3,840 groups
80% / 20%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19" y="2816352"/>
            <a:ext cx="3108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0D5BFF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70648" y="2121408"/>
            <a:ext cx="196596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35240" y="2286000"/>
            <a:ext cx="310896" cy="310896"/>
          </a:xfrm>
          <a:prstGeom prst="ellipse">
            <a:avLst/>
          </a:prstGeom>
          <a:solidFill>
            <a:srgbClr val="0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37575" y="2286000"/>
            <a:ext cx="12527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D5BFF"/>
                </a:solidFill>
                <a:latin typeface="Aptos"/>
              </a:rPr>
              <a:t>SELECT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71816" y="2761487"/>
            <a:ext cx="1563624" cy="1243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51846"/>
                </a:solidFill>
                <a:latin typeface="Aptos"/>
              </a:rPr>
              <a:t>5-fold CV
group-safe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4040" y="2816352"/>
            <a:ext cx="3108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0D5BFF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02367" y="2121408"/>
            <a:ext cx="196596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966959" y="2286000"/>
            <a:ext cx="310896" cy="310896"/>
          </a:xfrm>
          <a:prstGeom prst="ellipse">
            <a:avLst/>
          </a:prstGeom>
          <a:solidFill>
            <a:srgbClr val="0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69295" y="2286000"/>
            <a:ext cx="12527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D5BFF"/>
                </a:solidFill>
                <a:latin typeface="Aptos"/>
              </a:rPr>
              <a:t>EVALUATE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03536" y="2761487"/>
            <a:ext cx="1563624" cy="1243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51846"/>
                </a:solidFill>
                <a:latin typeface="Aptos"/>
              </a:rPr>
              <a:t>835 unseen rows
768 groups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7512" y="4617720"/>
            <a:ext cx="10835640" cy="1024128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4864608"/>
            <a:ext cx="1600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D5BFF"/>
                </a:solidFill>
                <a:latin typeface="Aptos"/>
              </a:rPr>
              <a:t>Leakage controls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14600" y="4809744"/>
            <a:ext cx="85496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51846"/>
                </a:solidFill>
                <a:latin typeface="Aptos"/>
              </a:rPr>
              <a:t>feature+target deduplication  •  identical fingerprints grouped  •  no price/m² leakage  •  preprocessing inside CV  •  test not used for selection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06324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56616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51846"/>
                </a:solidFill>
                <a:latin typeface="Aptos"/>
              </a:rPr>
              <a:t>AI/ML CAPSTONE  /  MODELING + EXPERIMENTS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-182880"/>
            <a:ext cx="1645920" cy="164592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30000" y="6126480"/>
            <a:ext cx="914400" cy="91440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274320" y="6217920"/>
            <a:ext cx="1005840" cy="100584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27080" y="320040"/>
            <a:ext cx="777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51846"/>
                </a:solidFill>
                <a:latin typeface="Aptos"/>
              </a:rPr>
              <a:t>Slide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932688"/>
            <a:ext cx="11247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51846"/>
                </a:solidFill>
                <a:latin typeface="Aptos"/>
              </a:rPr>
              <a:t>FOUR APPROACHES — ONE EVIDENCE-BASED CHOICE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600200"/>
            <a:ext cx="109728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37599"/>
                </a:solidFill>
                <a:latin typeface="Aptos"/>
              </a:rPr>
              <a:t>Final model selected by the lowest five-fold development CV MAE, not test performance.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2148840"/>
          <a:ext cx="736092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1645920"/>
                <a:gridCol w="1645920"/>
                <a:gridCol w="1645920"/>
              </a:tblGrid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 marL="91440" marR="91440">
                    <a:solidFill>
                      <a:srgbClr val="0D5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CV MAE</a:t>
                      </a:r>
                    </a:p>
                  </a:txBody>
                  <a:tcPr marL="91440" marR="91440">
                    <a:solidFill>
                      <a:srgbClr val="0D5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CV RMSE</a:t>
                      </a:r>
                    </a:p>
                  </a:txBody>
                  <a:tcPr marL="91440" marR="91440">
                    <a:solidFill>
                      <a:srgbClr val="0D5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CV R²</a:t>
                      </a:r>
                    </a:p>
                  </a:txBody>
                  <a:tcPr marL="91440" marR="91440">
                    <a:solidFill>
                      <a:srgbClr val="0D5B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1846"/>
                          </a:solidFill>
                          <a:latin typeface="Aptos"/>
                        </a:rPr>
                        <a:t>Median baseline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51846"/>
                          </a:solidFill>
                          <a:latin typeface="Aptos"/>
                        </a:rPr>
                        <a:t>$55,604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51846"/>
                          </a:solidFill>
                          <a:latin typeface="Aptos"/>
                        </a:rPr>
                        <a:t>$123,587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51846"/>
                          </a:solidFill>
                          <a:latin typeface="Aptos"/>
                        </a:rPr>
                        <a:t>-0.068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1846"/>
                          </a:solidFill>
                          <a:latin typeface="Aptos"/>
                        </a:rPr>
                        <a:t>Log Ridge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51846"/>
                          </a:solidFill>
                          <a:latin typeface="Aptos"/>
                        </a:rPr>
                        <a:t>$38,301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51846"/>
                          </a:solidFill>
                          <a:latin typeface="Aptos"/>
                        </a:rPr>
                        <a:t>$105,755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51846"/>
                          </a:solidFill>
                          <a:latin typeface="Aptos"/>
                        </a:rPr>
                        <a:t>0.219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5BFF"/>
                          </a:solidFill>
                          <a:latin typeface="Aptos"/>
                        </a:rPr>
                        <a:t>Random Forest</a:t>
                      </a:r>
                    </a:p>
                  </a:txBody>
                  <a:tcPr marL="91440" marR="91440"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D5BFF"/>
                          </a:solidFill>
                          <a:latin typeface="Aptos"/>
                        </a:rPr>
                        <a:t>$31,298</a:t>
                      </a:r>
                    </a:p>
                  </a:txBody>
                  <a:tcPr marL="91440" marR="91440"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D5BFF"/>
                          </a:solidFill>
                          <a:latin typeface="Aptos"/>
                        </a:rPr>
                        <a:t>$80,394</a:t>
                      </a:r>
                    </a:p>
                  </a:txBody>
                  <a:tcPr marL="91440" marR="91440"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D5BFF"/>
                          </a:solidFill>
                          <a:latin typeface="Aptos"/>
                        </a:rPr>
                        <a:t>0.556</a:t>
                      </a:r>
                    </a:p>
                  </a:txBody>
                  <a:tcPr marL="91440" marR="91440">
                    <a:solidFill>
                      <a:srgbClr val="F0F6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1846"/>
                          </a:solidFill>
                          <a:latin typeface="Aptos"/>
                        </a:rPr>
                        <a:t>Gradient Boosting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51846"/>
                          </a:solidFill>
                          <a:latin typeface="Aptos"/>
                        </a:rPr>
                        <a:t>$33,545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51846"/>
                          </a:solidFill>
                          <a:latin typeface="Aptos"/>
                        </a:rPr>
                        <a:t>$94,081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51846"/>
                          </a:solidFill>
                          <a:latin typeface="Aptos"/>
                        </a:rPr>
                        <a:t>0.396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458200" y="2148840"/>
            <a:ext cx="2971800" cy="3063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22792" y="2313432"/>
            <a:ext cx="310896" cy="310896"/>
          </a:xfrm>
          <a:prstGeom prst="ellipse">
            <a:avLst/>
          </a:prstGeom>
          <a:solidFill>
            <a:srgbClr val="0D9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25128" y="2313432"/>
            <a:ext cx="22585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D9D59"/>
                </a:solidFill>
                <a:latin typeface="Aptos"/>
              </a:rPr>
              <a:t>WHY RANDOM FOREST?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59368" y="2788920"/>
            <a:ext cx="2569464" cy="2295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51846"/>
                </a:solidFill>
                <a:latin typeface="Aptos"/>
              </a:rPr>
              <a:t>Best validation MAE
Captures non-linear size × location interactions
Trade-off: larger and less interpretable than Ridge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06324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56616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51846"/>
                </a:solidFill>
                <a:latin typeface="Aptos"/>
              </a:rPr>
              <a:t>AI/ML CAPSTONE  /  RESULT + WEAKNESS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-182880"/>
            <a:ext cx="1645920" cy="164592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30000" y="6126480"/>
            <a:ext cx="914400" cy="91440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274320" y="6217920"/>
            <a:ext cx="1005840" cy="100584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27080" y="320040"/>
            <a:ext cx="777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51846"/>
                </a:solidFill>
                <a:latin typeface="Aptos"/>
              </a:rPr>
              <a:t>Slide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932688"/>
            <a:ext cx="11247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51846"/>
                </a:solidFill>
                <a:latin typeface="Aptos"/>
              </a:rPr>
              <a:t>UNSEEN-TEST RESULT — WITH THE FAILURE VISIBLE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600200"/>
            <a:ext cx="109728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37599"/>
                </a:solidFill>
                <a:latin typeface="Aptos"/>
              </a:rPr>
              <a:t>The baseline comparison and error case matter more than a polished success claim.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148840"/>
            <a:ext cx="2148840" cy="1078992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0D9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13432"/>
            <a:ext cx="19659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0D9D59"/>
                </a:solidFill>
                <a:latin typeface="Aptos"/>
              </a:rPr>
              <a:t>$27,195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834640"/>
            <a:ext cx="1965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37599"/>
                </a:solidFill>
                <a:latin typeface="Aptos"/>
              </a:rPr>
              <a:t>MAE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360" y="2148840"/>
            <a:ext cx="2148840" cy="1078992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0D9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1800" y="2313432"/>
            <a:ext cx="19659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0D9D59"/>
                </a:solidFill>
                <a:latin typeface="Aptos"/>
              </a:rPr>
              <a:t>$58,887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834640"/>
            <a:ext cx="1965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37599"/>
                </a:solidFill>
                <a:latin typeface="Aptos"/>
              </a:rPr>
              <a:t>RMSE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66360" y="2148840"/>
            <a:ext cx="2148840" cy="1078992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0D9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57800" y="2313432"/>
            <a:ext cx="19659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0D9D59"/>
                </a:solidFill>
                <a:latin typeface="Aptos"/>
              </a:rPr>
              <a:t>0.681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2834640"/>
            <a:ext cx="1965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37599"/>
                </a:solidFill>
                <a:latin typeface="Aptos"/>
              </a:rPr>
              <a:t>R²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2148840"/>
            <a:ext cx="2148840" cy="1078992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0D9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2313432"/>
            <a:ext cx="19659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0D9D59"/>
                </a:solidFill>
                <a:latin typeface="Aptos"/>
              </a:rPr>
              <a:t>24.58%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2834640"/>
            <a:ext cx="1965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37599"/>
                </a:solidFill>
                <a:latin typeface="Aptos"/>
              </a:rPr>
              <a:t>MAPE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38360" y="2148840"/>
            <a:ext cx="1874519" cy="1078992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57232" y="2313432"/>
            <a:ext cx="1627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0D5BFF"/>
                </a:solidFill>
                <a:latin typeface="Aptos"/>
              </a:rPr>
              <a:t>−46.6%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57232" y="2807208"/>
            <a:ext cx="16276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37599"/>
                </a:solidFill>
                <a:latin typeface="Aptos"/>
              </a:rPr>
              <a:t>MAE vs baseline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703320"/>
            <a:ext cx="6446520" cy="18470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0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58952" y="3867911"/>
            <a:ext cx="310896" cy="310896"/>
          </a:xfrm>
          <a:prstGeom prst="ellipse">
            <a:avLst/>
          </a:prstGeom>
          <a:solidFill>
            <a:srgbClr val="D0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61288" y="3867911"/>
            <a:ext cx="57332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D03748"/>
                </a:solidFill>
                <a:latin typeface="Aptos"/>
              </a:rPr>
              <a:t>LARGEST ERROR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" y="4343400"/>
            <a:ext cx="6044183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51846"/>
                </a:solidFill>
                <a:latin typeface="Aptos"/>
              </a:rPr>
              <a:t>Shayhontohur • 160 m² • 3 rooms • new build
Actual: $1,000,000   Predicted: $234,461
Absolute error: $765,539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60920" y="3703320"/>
            <a:ext cx="4251960" cy="18470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9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525512" y="3867911"/>
            <a:ext cx="310896" cy="310896"/>
          </a:xfrm>
          <a:prstGeom prst="ellipse">
            <a:avLst/>
          </a:prstGeom>
          <a:solidFill>
            <a:srgbClr val="E89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27848" y="3867911"/>
            <a:ext cx="35387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89D00"/>
                </a:solidFill>
                <a:latin typeface="Aptos"/>
              </a:rPr>
              <a:t>WHAT IT TEACHES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62088" y="4343400"/>
            <a:ext cx="3849624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51846"/>
                </a:solidFill>
                <a:latin typeface="Aptos"/>
              </a:rPr>
              <a:t>Luxury premiums and condition are not observed. Mirobod and Shayhontohur MAE is high; some district slice R² values are negative.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06324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56616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51846"/>
                </a:solidFill>
                <a:latin typeface="Aptos"/>
              </a:rPr>
              <a:t>AI/ML CAPSTONE  /  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-182880"/>
            <a:ext cx="1645920" cy="164592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30000" y="6126480"/>
            <a:ext cx="914400" cy="91440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274320" y="6217920"/>
            <a:ext cx="1005840" cy="100584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27080" y="320040"/>
            <a:ext cx="777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51846"/>
                </a:solidFill>
                <a:latin typeface="Aptos"/>
              </a:rPr>
              <a:t>Slide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932688"/>
            <a:ext cx="11247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51846"/>
                </a:solidFill>
                <a:latin typeface="Aptos"/>
              </a:rPr>
              <a:t>ONE REAL INPUT → ONE VISIBLE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600200"/>
            <a:ext cx="109728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37599"/>
                </a:solidFill>
                <a:latin typeface="Aptos"/>
              </a:rPr>
              <a:t>Colab route: setup → load saved pipeline → predict → show validation error.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029968"/>
            <a:ext cx="4709160" cy="3429000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304288"/>
            <a:ext cx="1417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D5BFF"/>
                </a:solidFill>
                <a:latin typeface="Aptos"/>
              </a:rPr>
              <a:t>RAW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43200"/>
            <a:ext cx="38404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051846"/>
                </a:solidFill>
                <a:latin typeface="Aptos"/>
              </a:rPr>
              <a:t>District      Chilonzor
Size          70 m²
Rooms         3
Level         3 / 5
Building type Resale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3246120"/>
            <a:ext cx="6400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>
                <a:solidFill>
                  <a:srgbClr val="0D5BFF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029968"/>
            <a:ext cx="5394960" cy="15727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331720"/>
            <a:ext cx="4800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D9D59"/>
                </a:solidFill>
                <a:latin typeface="Aptos"/>
              </a:rPr>
              <a:t>ESTIMATED AUGUST 2026 ASKING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697480"/>
            <a:ext cx="4800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100" b="1">
                <a:solidFill>
                  <a:srgbClr val="0D9D59"/>
                </a:solidFill>
                <a:latin typeface="Aptos"/>
              </a:rPr>
              <a:t>$97,098 USD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877056"/>
            <a:ext cx="5394960" cy="1581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0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133087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03748"/>
                </a:solidFill>
                <a:latin typeface="Aptos"/>
              </a:rPr>
              <a:t>EDGE CASE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553712"/>
            <a:ext cx="46817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51846"/>
                </a:solidFill>
                <a:latin typeface="Aptos"/>
              </a:rPr>
              <a:t>Level 9 / max 5  →  clear ValueError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833872"/>
            <a:ext cx="10104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D5BFF"/>
                </a:solidFill>
                <a:latin typeface="Aptos"/>
              </a:rPr>
              <a:t>Open: README Colab badge  •  Run all  •  Do not tour source code unless asked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06324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56616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51846"/>
                </a:solidFill>
                <a:latin typeface="Aptos"/>
              </a:rPr>
              <a:t>AI/ML CAPSTONE  /  CLOSE +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-182880"/>
            <a:ext cx="1645920" cy="164592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30000" y="6126480"/>
            <a:ext cx="914400" cy="91440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274320" y="6217920"/>
            <a:ext cx="1005840" cy="100584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27080" y="320040"/>
            <a:ext cx="777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51846"/>
                </a:solidFill>
                <a:latin typeface="Aptos"/>
              </a:rPr>
              <a:t>Slide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932688"/>
            <a:ext cx="11247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51846"/>
                </a:solidFill>
                <a:latin typeface="Aptos"/>
              </a:rPr>
              <a:t>HONEST LIMITS — CLEAR NEXT STEP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600200"/>
            <a:ext cx="109728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37599"/>
                </a:solidFill>
                <a:latin typeface="Aptos"/>
              </a:rPr>
              <a:t>A useful educational model is stronger when its boundary is explicit.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48256"/>
            <a:ext cx="3520440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0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7512" y="2212848"/>
            <a:ext cx="310896" cy="310896"/>
          </a:xfrm>
          <a:prstGeom prst="ellipse">
            <a:avLst/>
          </a:prstGeom>
          <a:solidFill>
            <a:srgbClr val="D0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2212848"/>
            <a:ext cx="28072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D03748"/>
                </a:solidFill>
                <a:latin typeface="Aptos"/>
              </a:rPr>
              <a:t>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2688336"/>
            <a:ext cx="3118104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051846"/>
                </a:solidFill>
                <a:latin typeface="Aptos"/>
              </a:rPr>
              <a:t>Dated asking-price snapshot
No condition / exact building / legal status
Unequal district reliability
Source noise and market drift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4256" y="2048256"/>
            <a:ext cx="3520440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9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98848" y="2212848"/>
            <a:ext cx="310896" cy="310896"/>
          </a:xfrm>
          <a:prstGeom prst="ellipse">
            <a:avLst/>
          </a:prstGeom>
          <a:solidFill>
            <a:srgbClr val="E89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01184" y="2212848"/>
            <a:ext cx="28072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89D00"/>
                </a:solidFill>
                <a:latin typeface="Aptos"/>
              </a:rPr>
              <a:t>SAFE 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688336"/>
            <a:ext cx="3118104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051846"/>
                </a:solidFill>
                <a:latin typeface="Aptos"/>
              </a:rPr>
              <a:t>August 2026 reference only
Compare with recent listings
Require human review
No lending, tax, or legal appraisal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65592" y="2048256"/>
            <a:ext cx="3520440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30183" y="2212848"/>
            <a:ext cx="310896" cy="310896"/>
          </a:xfrm>
          <a:prstGeom prst="ellipse">
            <a:avLst/>
          </a:prstGeom>
          <a:solidFill>
            <a:srgbClr val="0D9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2519" y="2212848"/>
            <a:ext cx="28072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D9D59"/>
                </a:solidFill>
                <a:latin typeface="Aptos"/>
              </a:rPr>
              <a:t>NEXT IMPROVEMENT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688336"/>
            <a:ext cx="3118104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051846"/>
                </a:solidFill>
                <a:latin typeface="Aptos"/>
              </a:rPr>
              <a:t>Collect verified transactions with exact neighborhood, condition, building year, renovation, and legal status; then use a later time holdout.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74519" y="4983480"/>
            <a:ext cx="8412480" cy="841248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48840" y="5184648"/>
            <a:ext cx="7863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D5BFF"/>
                </a:solidFill>
                <a:latin typeface="Aptos"/>
              </a:rPr>
              <a:t>Thank you. I am ready for one evidence-based question.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06324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56616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51846"/>
                </a:solidFill>
                <a:latin typeface="Aptos"/>
              </a:rPr>
              <a:t>AI/ML CAPSTONE  /  APPENDIX / SHOW ME WHERE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-182880"/>
            <a:ext cx="1645920" cy="164592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30000" y="6126480"/>
            <a:ext cx="914400" cy="91440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274320" y="6217920"/>
            <a:ext cx="1005840" cy="100584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27080" y="320040"/>
            <a:ext cx="777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51846"/>
                </a:solidFill>
                <a:latin typeface="Aptos"/>
              </a:rPr>
              <a:t>Slide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932688"/>
            <a:ext cx="11247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51846"/>
                </a:solidFill>
                <a:latin typeface="Aptos"/>
              </a:rPr>
              <a:t>OFFICIAL CRITERIA → EXACT REPOSITORY PROOF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600200"/>
            <a:ext cx="109728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37599"/>
                </a:solidFill>
                <a:latin typeface="Aptos"/>
              </a:rPr>
              <a:t>Open docs/capstone_evidence_matrix.md for the complete claim → location → why-proof mapping.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057400"/>
            <a:ext cx="2606040" cy="14447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9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6072" y="2221992"/>
            <a:ext cx="310896" cy="310896"/>
          </a:xfrm>
          <a:prstGeom prst="ellipse">
            <a:avLst/>
          </a:prstGeom>
          <a:solidFill>
            <a:srgbClr val="E89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2221992"/>
            <a:ext cx="18928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9D00"/>
                </a:solidFill>
                <a:latin typeface="Aptos"/>
              </a:rPr>
              <a:t>1 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697480"/>
            <a:ext cx="2203704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51846"/>
                </a:solidFill>
                <a:latin typeface="Aptos"/>
              </a:rPr>
              <a:t>README + Project Brief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19272" y="2057400"/>
            <a:ext cx="2606040" cy="14447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9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83864" y="2221992"/>
            <a:ext cx="310896" cy="310896"/>
          </a:xfrm>
          <a:prstGeom prst="ellipse">
            <a:avLst/>
          </a:prstGeom>
          <a:solidFill>
            <a:srgbClr val="E89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86200" y="2221992"/>
            <a:ext cx="18928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9D00"/>
                </a:solidFill>
                <a:latin typeface="Aptos"/>
              </a:rPr>
              <a:t>2 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697480"/>
            <a:ext cx="2203704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51846"/>
                </a:solidFill>
                <a:latin typeface="Aptos"/>
              </a:rPr>
              <a:t>data/README + EDA + src/data.py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7064" y="2057400"/>
            <a:ext cx="2606040" cy="14447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91656" y="2221992"/>
            <a:ext cx="310896" cy="310896"/>
          </a:xfrm>
          <a:prstGeom prst="ellipse">
            <a:avLst/>
          </a:prstGeom>
          <a:solidFill>
            <a:srgbClr val="0D9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3992" y="2221992"/>
            <a:ext cx="18928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D9D59"/>
                </a:solidFill>
                <a:latin typeface="Aptos"/>
              </a:rPr>
              <a:t>3  Models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2697480"/>
            <a:ext cx="2203704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51846"/>
                </a:solidFill>
                <a:latin typeface="Aptos"/>
              </a:rPr>
              <a:t>model_comparison.csv + src/model.py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34856" y="2057400"/>
            <a:ext cx="2606040" cy="14447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99448" y="2221992"/>
            <a:ext cx="310896" cy="310896"/>
          </a:xfrm>
          <a:prstGeom prst="ellipse">
            <a:avLst/>
          </a:prstGeom>
          <a:solidFill>
            <a:srgbClr val="0D9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01784" y="2221992"/>
            <a:ext cx="18928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D9D59"/>
                </a:solidFill>
                <a:latin typeface="Aptos"/>
              </a:rPr>
              <a:t>4  Evaluation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36024" y="2697480"/>
            <a:ext cx="2203704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51846"/>
                </a:solidFill>
                <a:latin typeface="Aptos"/>
              </a:rPr>
              <a:t>test metrics + errors + district slices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3931920"/>
            <a:ext cx="2606040" cy="14447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76072" y="4096511"/>
            <a:ext cx="310896" cy="310896"/>
          </a:xfrm>
          <a:prstGeom prst="ellipse">
            <a:avLst/>
          </a:prstGeom>
          <a:solidFill>
            <a:srgbClr val="0D9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8" y="4096511"/>
            <a:ext cx="18928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D9D59"/>
                </a:solidFill>
                <a:latin typeface="Aptos"/>
              </a:rPr>
              <a:t>5  Delivery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" y="4572000"/>
            <a:ext cx="2203704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51846"/>
                </a:solidFill>
                <a:latin typeface="Aptos"/>
              </a:rPr>
              <a:t>demo.ipynb + saved joblib + predict.py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19272" y="3931920"/>
            <a:ext cx="2606040" cy="14447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9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83864" y="4096511"/>
            <a:ext cx="310896" cy="310896"/>
          </a:xfrm>
          <a:prstGeom prst="ellipse">
            <a:avLst/>
          </a:prstGeom>
          <a:solidFill>
            <a:srgbClr val="E89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86200" y="4096511"/>
            <a:ext cx="18928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9D00"/>
                </a:solidFill>
                <a:latin typeface="Aptos"/>
              </a:rPr>
              <a:t>6  Reproduce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40" y="4572000"/>
            <a:ext cx="2203704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51846"/>
                </a:solidFill>
                <a:latin typeface="Aptos"/>
              </a:rPr>
              <a:t>README + clean_run_check + CI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27064" y="3931920"/>
            <a:ext cx="2606040" cy="14447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391656" y="4096511"/>
            <a:ext cx="310896" cy="310896"/>
          </a:xfrm>
          <a:prstGeom prst="ellipse">
            <a:avLst/>
          </a:prstGeom>
          <a:solidFill>
            <a:srgbClr val="0D9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93992" y="4096511"/>
            <a:ext cx="18928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D9D59"/>
                </a:solidFill>
                <a:latin typeface="Aptos"/>
              </a:rPr>
              <a:t>7  Responsible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28232" y="4572000"/>
            <a:ext cx="2203704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51846"/>
                </a:solidFill>
                <a:latin typeface="Aptos"/>
              </a:rPr>
              <a:t>README limitations + data card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34856" y="3931920"/>
            <a:ext cx="2606040" cy="14447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9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299448" y="4096511"/>
            <a:ext cx="310896" cy="310896"/>
          </a:xfrm>
          <a:prstGeom prst="ellipse">
            <a:avLst/>
          </a:prstGeom>
          <a:solidFill>
            <a:srgbClr val="E89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01784" y="4096511"/>
            <a:ext cx="18928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9D00"/>
                </a:solidFill>
                <a:latin typeface="Aptos"/>
              </a:rPr>
              <a:t>8  Defense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36024" y="4572000"/>
            <a:ext cx="2203704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51846"/>
                </a:solidFill>
                <a:latin typeface="Aptos"/>
              </a:rPr>
              <a:t>deck + pitch + question bank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5961888"/>
            <a:ext cx="8595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89D00"/>
                </a:solidFill>
                <a:latin typeface="Aptos"/>
              </a:rPr>
              <a:t>YELLOW only where external approval/rehearsal evidence is still required.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06324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56616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51846"/>
                </a:solidFill>
                <a:latin typeface="Aptos"/>
              </a:rPr>
              <a:t>AI/ML CAPSTONE  /  APPENDIX /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-182880"/>
            <a:ext cx="1645920" cy="164592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30000" y="6126480"/>
            <a:ext cx="914400" cy="91440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274320" y="6217920"/>
            <a:ext cx="1005840" cy="100584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27080" y="320040"/>
            <a:ext cx="777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51846"/>
                </a:solidFill>
                <a:latin typeface="Aptos"/>
              </a:rPr>
              <a:t>Slide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932688"/>
            <a:ext cx="11247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51846"/>
                </a:solidFill>
                <a:latin typeface="Aptos"/>
              </a:rPr>
              <a:t>THE SAME PIPELINE TRAINS AND PREDICTS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600200"/>
            <a:ext cx="109728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37599"/>
                </a:solidFill>
                <a:latin typeface="Aptos"/>
              </a:rPr>
              <a:t>Preprocessing is serialized with the estimator, preventing notebook-only inference drift.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011680"/>
            <a:ext cx="3401568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04671" y="2176272"/>
            <a:ext cx="310896" cy="310896"/>
          </a:xfrm>
          <a:prstGeom prst="ellipse">
            <a:avLst/>
          </a:prstGeom>
          <a:solidFill>
            <a:srgbClr val="0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7" y="2176272"/>
            <a:ext cx="26883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D5BFF"/>
                </a:solidFill>
                <a:latin typeface="Aptos"/>
              </a:rPr>
              <a:t>RAW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2651760"/>
            <a:ext cx="2999232" cy="740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51846"/>
                </a:solidFill>
                <a:latin typeface="Aptos"/>
              </a:rPr>
              <a:t>district • rooms • size • level • max_levels • new-build/resale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62272" y="2011680"/>
            <a:ext cx="3401568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26864" y="2176272"/>
            <a:ext cx="310896" cy="310896"/>
          </a:xfrm>
          <a:prstGeom prst="ellipse">
            <a:avLst/>
          </a:prstGeom>
          <a:solidFill>
            <a:srgbClr val="0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2176272"/>
            <a:ext cx="26883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D5BFF"/>
                </a:solidFill>
                <a:latin typeface="Aptos"/>
              </a:rPr>
              <a:t>VALIDATE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651760"/>
            <a:ext cx="2999232" cy="740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51846"/>
                </a:solidFill>
                <a:latin typeface="Aptos"/>
              </a:rPr>
              <a:t>required fields • positive values • level ≤ max_levels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3" y="2011680"/>
            <a:ext cx="3401568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49055" y="2176272"/>
            <a:ext cx="310896" cy="310896"/>
          </a:xfrm>
          <a:prstGeom prst="ellipse">
            <a:avLst/>
          </a:prstGeom>
          <a:solidFill>
            <a:srgbClr val="0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51391" y="2176272"/>
            <a:ext cx="26883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D5BFF"/>
                </a:solidFill>
                <a:latin typeface="Aptos"/>
              </a:rPr>
              <a:t>FEATURE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2" y="2651760"/>
            <a:ext cx="2999232" cy="740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51846"/>
                </a:solidFill>
                <a:latin typeface="Aptos"/>
              </a:rPr>
              <a:t>floor_ratio = level / max_levels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050791"/>
            <a:ext cx="3401568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04671" y="4215383"/>
            <a:ext cx="310896" cy="310896"/>
          </a:xfrm>
          <a:prstGeom prst="ellipse">
            <a:avLst/>
          </a:prstGeom>
          <a:solidFill>
            <a:srgbClr val="0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07007" y="4215383"/>
            <a:ext cx="26883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D5BFF"/>
                </a:solidFill>
                <a:latin typeface="Aptos"/>
              </a:rPr>
              <a:t>PREPROCESS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" y="4690872"/>
            <a:ext cx="2999232" cy="740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51846"/>
                </a:solidFill>
                <a:latin typeface="Aptos"/>
              </a:rPr>
              <a:t>OneHotEncoder district • numeric passthrough / scaling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62272" y="4050791"/>
            <a:ext cx="3401568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26864" y="4215383"/>
            <a:ext cx="310896" cy="310896"/>
          </a:xfrm>
          <a:prstGeom prst="ellipse">
            <a:avLst/>
          </a:prstGeom>
          <a:solidFill>
            <a:srgbClr val="0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0" y="4215383"/>
            <a:ext cx="26883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D5BFF"/>
                </a:solidFill>
                <a:latin typeface="Aptos"/>
              </a:rPr>
              <a:t>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4690872"/>
            <a:ext cx="2999232" cy="740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51846"/>
                </a:solidFill>
                <a:latin typeface="Aptos"/>
              </a:rPr>
              <a:t>selected Random Forest inside sklearn Pipeline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84463" y="4050791"/>
            <a:ext cx="3401568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449055" y="4215383"/>
            <a:ext cx="310896" cy="310896"/>
          </a:xfrm>
          <a:prstGeom prst="ellipse">
            <a:avLst/>
          </a:prstGeom>
          <a:solidFill>
            <a:srgbClr val="0D9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51391" y="4215383"/>
            <a:ext cx="26883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D9D59"/>
                </a:solidFill>
                <a:latin typeface="Aptos"/>
              </a:rPr>
              <a:t>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85632" y="4690872"/>
            <a:ext cx="2999232" cy="740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51846"/>
                </a:solidFill>
                <a:latin typeface="Aptos"/>
              </a:rPr>
              <a:t>USD estimate + unseen/range warnings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6035040"/>
            <a:ext cx="9052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D5BFF"/>
                </a:solidFill>
                <a:latin typeface="Aptos"/>
              </a:rPr>
              <a:t>Source proof: src/data.py + src/model.py + artifacts/apartment_price_pipeline.joblib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06324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56616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51846"/>
                </a:solidFill>
                <a:latin typeface="Aptos"/>
              </a:rPr>
              <a:t>AI/ML CAPSTONE  /  APPENDIX / Q&amp;A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-182880"/>
            <a:ext cx="1645920" cy="164592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30000" y="6126480"/>
            <a:ext cx="914400" cy="91440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274320" y="6217920"/>
            <a:ext cx="1005840" cy="100584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27080" y="320040"/>
            <a:ext cx="777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51846"/>
                </a:solidFill>
                <a:latin typeface="Aptos"/>
              </a:rPr>
              <a:t>Slide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932688"/>
            <a:ext cx="11247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51846"/>
                </a:solidFill>
                <a:latin typeface="Aptos"/>
              </a:rPr>
              <a:t>ANSWER WITHOUT GUESSING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600200"/>
            <a:ext cx="109728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37599"/>
                </a:solidFill>
                <a:latin typeface="Aptos"/>
              </a:rPr>
              <a:t>Direct answer → exact evidence → limitation or next step.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057400"/>
            <a:ext cx="3401568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04671" y="2221992"/>
            <a:ext cx="310896" cy="310896"/>
          </a:xfrm>
          <a:prstGeom prst="ellipse">
            <a:avLst/>
          </a:prstGeom>
          <a:solidFill>
            <a:srgbClr val="0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7" y="2221992"/>
            <a:ext cx="26883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D5BFF"/>
                </a:solidFill>
                <a:latin typeface="Aptos"/>
              </a:rPr>
              <a:t>WHY RANDOM FOREST?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2697480"/>
            <a:ext cx="2999232" cy="1335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51846"/>
                </a:solidFill>
                <a:latin typeface="Aptos"/>
              </a:rPr>
              <a:t>Lowest group-safe CV MAE ($31,298).
Open reports/model_comparison.csv.
Trade-off: size and interpretability.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057400"/>
            <a:ext cx="3401568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0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53712" y="2221992"/>
            <a:ext cx="310896" cy="310896"/>
          </a:xfrm>
          <a:prstGeom prst="ellipse">
            <a:avLst/>
          </a:prstGeom>
          <a:solidFill>
            <a:srgbClr val="D0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56048" y="2221992"/>
            <a:ext cx="26883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D03748"/>
                </a:solidFill>
                <a:latin typeface="Aptos"/>
              </a:rPr>
              <a:t>IS IT CURRENT?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697480"/>
            <a:ext cx="2999232" cy="1335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51846"/>
                </a:solidFill>
                <a:latin typeface="Aptos"/>
              </a:rPr>
              <a:t>Yes — dated Aug 2026 asking-price snapshot.
Open data/README.md.
Not a permanently live or completed-sale model.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2057400"/>
            <a:ext cx="3401568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9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02752" y="2221992"/>
            <a:ext cx="310896" cy="310896"/>
          </a:xfrm>
          <a:prstGeom prst="ellipse">
            <a:avLst/>
          </a:prstGeom>
          <a:solidFill>
            <a:srgbClr val="E89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05088" y="2221992"/>
            <a:ext cx="26883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89D00"/>
                </a:solidFill>
                <a:latin typeface="Aptos"/>
              </a:rPr>
              <a:t>BIGGEST FAILURE?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8" y="2697480"/>
            <a:ext cx="2999232" cy="1335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51846"/>
                </a:solidFill>
                <a:latin typeface="Aptos"/>
              </a:rPr>
              <a:t>$1m Shayhontohur actual vs ~$234k predicted.
Open largest_errors.csv.
Missing luxury/condition signal.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08760" y="4892040"/>
            <a:ext cx="9189720" cy="841248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0D9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83080" y="5157216"/>
            <a:ext cx="8641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D9D59"/>
                </a:solidFill>
                <a:latin typeface="Aptos"/>
              </a:rPr>
              <a:t>Full evidence-anchored answers: docs/defense_question_bank.md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