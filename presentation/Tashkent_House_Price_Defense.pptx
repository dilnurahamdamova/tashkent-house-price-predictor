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INDIVIDUAL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6583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51846"/>
                </a:solidFill>
                <a:latin typeface="Aptos"/>
              </a:rPr>
              <a:t>TASHKENT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6583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>
                <a:solidFill>
                  <a:srgbClr val="0D5BFF"/>
                </a:solidFill>
                <a:latin typeface="Aptos"/>
              </a:rPr>
              <a:t>HOUSE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70048"/>
            <a:ext cx="6583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100" b="1">
                <a:solidFill>
                  <a:srgbClr val="051846"/>
                </a:solidFill>
                <a:latin typeface="Aptos"/>
              </a:rPr>
              <a:t>PREDICTOR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188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37599"/>
                </a:solidFill>
                <a:latin typeface="Aptos"/>
              </a:rPr>
              <a:t>Dilnura Hamdamova  •  AI/ML Fundamentals Capstone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252728"/>
            <a:ext cx="4160520" cy="288036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609344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PROJECT IN ONE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084831"/>
            <a:ext cx="3355848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51846"/>
                </a:solidFill>
                <a:latin typeface="Aptos"/>
              </a:rPr>
              <a:t>Estimate a historical 2019 Tashkent apartment asking price from observable listing attributes.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2" y="3694176"/>
            <a:ext cx="3337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03748"/>
                </a:solidFill>
                <a:latin typeface="Aptos"/>
              </a:rPr>
              <a:t>Reference estimate — not an appraisal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5BFF"/>
                </a:solidFill>
                <a:latin typeface="Aptos"/>
              </a:rPr>
              <a:t>6,725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DE-DUPLICATED ROWS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7180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3240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5BFF"/>
                </a:solidFill>
                <a:latin typeface="Aptos"/>
              </a:rPr>
              <a:t>RF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SELECTED MODEL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79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0.745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TEST R²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48920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5056631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$10,573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55778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TEST MAE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PROBLEM + TASK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WHO NEEDS IT — AND WHAT DOES ML DO?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Lock the user, input, output, and boundary in under 45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31343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Buyers, sellers, agents, and analysts who need a consistent historical reference estimate.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B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313432"/>
            <a:ext cx="310896" cy="310896"/>
          </a:xfrm>
          <a:prstGeom prst="ellipse">
            <a:avLst/>
          </a:prstGeom>
          <a:solidFill>
            <a:srgbClr val="2BB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BB8FF"/>
                </a:solidFill>
                <a:latin typeface="Aptos"/>
              </a:rPr>
              <a:t>SUPERVISED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Inputs: district, size, rooms, apartment level, building levels, latitude, longitude.
Target: listing price.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148840"/>
            <a:ext cx="3520440" cy="24871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231343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19" y="2313432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OUTPUT +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788920"/>
            <a:ext cx="3118104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One estimated 2019 asking price in USD, plus warnings.
Not a current quote, sale guarantee, or legal appraisal.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5074920"/>
            <a:ext cx="9144000" cy="77724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294376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D5BFF"/>
                </a:solidFill>
                <a:latin typeface="Aptos"/>
              </a:rPr>
              <a:t>RAW APARTMENT  →  VALIDATED PIPELINE  →  USD ESTIMATE + WARNING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DATA +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FROM 7,421 LISTINGS TO A LEAKAGE-SAFE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CC0 uybor.uz advertisements collected in Tashkent in 2019.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7,421 rows
9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74136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0837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696 exact
duplicates removed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7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03519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0585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0095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80% develop
20% protected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19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0648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635240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757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181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5-fold CV
stratified by district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816352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7" y="2121408"/>
            <a:ext cx="19659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966959" y="2286000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69295" y="2286000"/>
            <a:ext cx="1252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D5BFF"/>
                </a:solidFill>
                <a:latin typeface="Aptos"/>
              </a:rPr>
              <a:t>EVALUATE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2761487"/>
            <a:ext cx="1563624" cy="1243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1,345 unseen
test rows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" y="4617720"/>
            <a:ext cx="10835640" cy="102412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864608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5BFF"/>
                </a:solidFill>
                <a:latin typeface="Aptos"/>
              </a:rPr>
              <a:t>Leakage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4809744"/>
            <a:ext cx="854964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duplicate removal before split  •  no target-derived features  •  encoding/scaling inside each sklearn pipeline  •  test not used for selection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MODELING +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FOUR APPROACHES — ONE EVIDENCE-BASED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Final model selected by the lowest five-fold development CV MAE, not test performance.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2148840"/>
          <a:ext cx="736092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645920"/>
                <a:gridCol w="1645920"/>
                <a:gridCol w="1645920"/>
              </a:tblGrid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MAE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RMSE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CV R²</a:t>
                      </a:r>
                    </a:p>
                  </a:txBody>
                  <a:tcPr marL="91440" marR="91440">
                    <a:solidFill>
                      <a:srgbClr val="0D5B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Median baseline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$25,220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$47,276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-0.081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Log Ridge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$15,580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$47,449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-0.248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Random Forest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$11,108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$23,289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BFF"/>
                          </a:solidFill>
                          <a:latin typeface="Aptos"/>
                        </a:rPr>
                        <a:t>0.736</a:t>
                      </a:r>
                    </a:p>
                  </a:txBody>
                  <a:tcPr marL="91440" marR="91440">
                    <a:solidFill>
                      <a:srgbClr val="F0F6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Gradient Boosting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$12,099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$25,473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51846"/>
                          </a:solidFill>
                          <a:latin typeface="Aptos"/>
                        </a:rPr>
                        <a:t>0.685</a:t>
                      </a:r>
                    </a:p>
                  </a:txBody>
                  <a:tcPr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458200" y="2148840"/>
            <a:ext cx="2971800" cy="3063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22792" y="231343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25128" y="2313432"/>
            <a:ext cx="225856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WHY RANDOM FOREST?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788920"/>
            <a:ext cx="2569464" cy="2295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Best validation MAE
Captures non-linear size × location interactions
Trade-off: larger and less interpretable than Ridge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RESULT + WEAKNESS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UNSEEN-TEST RESULT — WITH THE FAILURE VISIBLE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The baseline comparison and error case matter more than a polished success claim.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$10,573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MAE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$23,162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RMSE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0.745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R²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2148840"/>
            <a:ext cx="2148840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313432"/>
            <a:ext cx="196596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0D9D59"/>
                </a:solidFill>
                <a:latin typeface="Aptos"/>
              </a:rPr>
              <a:t>16.66%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834640"/>
            <a:ext cx="1965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599"/>
                </a:solidFill>
                <a:latin typeface="Aptos"/>
              </a:rPr>
              <a:t>MAPE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38360" y="2148840"/>
            <a:ext cx="1874519" cy="1078992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7232" y="2313432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D5BFF"/>
                </a:solidFill>
                <a:latin typeface="Aptos"/>
              </a:rPr>
              <a:t>−56.3%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7232" y="2807208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99"/>
                </a:solidFill>
                <a:latin typeface="Aptos"/>
              </a:rPr>
              <a:t>MAE vs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03320"/>
            <a:ext cx="644652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" y="3867911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3867911"/>
            <a:ext cx="57332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LARGEST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343400"/>
            <a:ext cx="6044183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51846"/>
                </a:solidFill>
                <a:latin typeface="Aptos"/>
              </a:rPr>
              <a:t>Mirobod • 456 m² • 10 rooms
Actual: $800,000   Predicted: $354,962
Absolute error: $445,038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703320"/>
            <a:ext cx="4251960" cy="18470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25512" y="3867911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27848" y="3867911"/>
            <a:ext cx="353872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WHAT IT TEACHES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62088" y="4343400"/>
            <a:ext cx="3849624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51846"/>
                </a:solidFill>
                <a:latin typeface="Aptos"/>
              </a:rPr>
              <a:t>Luxury premiums and condition are not fully observed. Bektemir and Yangihayot are too sparse for reliable slice claims.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ONE REAL INPUT → ONE VISIBLE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Colab route: setup → load saved pipeline → predict → show validation error.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29968"/>
            <a:ext cx="4709160" cy="3429000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30428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D5BFF"/>
                </a:solidFill>
                <a:latin typeface="Aptos"/>
              </a:rPr>
              <a:t>RAW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3840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051846"/>
                </a:solidFill>
                <a:latin typeface="Aptos"/>
              </a:rPr>
              <a:t>District     Chilonzor
Size         70 m²
Rooms        3
Level        3 / 5
Coordinates  41.3002, 69.2108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3246120"/>
            <a:ext cx="6400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0D5B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0299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D9D59"/>
                </a:solidFill>
                <a:latin typeface="Aptos"/>
              </a:rPr>
              <a:t>ESTIMATED 2019 ASKING PRICE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0D9D59"/>
                </a:solidFill>
                <a:latin typeface="Aptos"/>
              </a:rPr>
              <a:t>$53,532 USD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877056"/>
            <a:ext cx="5394960" cy="1581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33087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03748"/>
                </a:solidFill>
                <a:latin typeface="Aptos"/>
              </a:rPr>
              <a:t>EDGE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553712"/>
            <a:ext cx="4681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51846"/>
                </a:solidFill>
                <a:latin typeface="Aptos"/>
              </a:rPr>
              <a:t>Level 9 / max 5  →  clear ValueError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833872"/>
            <a:ext cx="10104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5BFF"/>
                </a:solidFill>
                <a:latin typeface="Aptos"/>
              </a:rPr>
              <a:t>Open: README Colab badge  •  Run all  •  Do not tour source code unless asked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CLOSE +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HONEST LIMITS — CLEAR 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A useful educational model is stronger when its boundary is explicit.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2212848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2019 asking prices
No condition / building age / legal status
Sparse districts
Location bias and market drift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98848" y="2212848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01184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SAFE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Historical reference only
Compare with recent listings
Require human review
No lending, tax, or legal appraisal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65592" y="2048256"/>
            <a:ext cx="352044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30183" y="2212848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19" y="2212848"/>
            <a:ext cx="28072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NEXT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88336"/>
            <a:ext cx="3118104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051846"/>
                </a:solidFill>
                <a:latin typeface="Aptos"/>
              </a:rPr>
              <a:t>Collect current transaction data with date, condition, building year, renovation, and legal status; then use a time-aware holdout.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19" y="4983480"/>
            <a:ext cx="8412480" cy="84124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5184648"/>
            <a:ext cx="7863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D5BFF"/>
                </a:solidFill>
                <a:latin typeface="Aptos"/>
              </a:rPr>
              <a:t>Thank you. I am ready for one evidence-based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SHOW ME WHERE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OFFICIAL CRITERIA → EXACT REPOSITORY PROOF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Open docs/evidence_matrix.md for the complete claim → location → why-proof mapping.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6072" y="2221992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1 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+ Project Brief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9272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83864" y="222199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86200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2 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data/README + EDA + src/data.py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1656" y="222199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93992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3 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model_comparison.csv + src/model.py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34856" y="205740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99448" y="2221992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2221992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4  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269748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test metrics + errors + district slices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6072" y="4096511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5  Delivery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demo.ipynb + saved joblib + predict.py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19272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483864" y="4096511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6  Reproduce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+ clean_run_check + CI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27064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1656" y="4096511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D9D59"/>
                </a:solidFill>
                <a:latin typeface="Aptos"/>
              </a:rPr>
              <a:t>7  Responsible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8232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README limitations + data card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34856" y="3931920"/>
            <a:ext cx="2606040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299448" y="4096511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01784" y="4096511"/>
            <a:ext cx="18928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89D00"/>
                </a:solidFill>
                <a:latin typeface="Aptos"/>
              </a:rPr>
              <a:t>8  Defense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4572000"/>
            <a:ext cx="2203704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51846"/>
                </a:solidFill>
                <a:latin typeface="Aptos"/>
              </a:rPr>
              <a:t>deck + pitch + question bank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961888"/>
            <a:ext cx="8595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E89D00"/>
                </a:solidFill>
                <a:latin typeface="Aptos"/>
              </a:rPr>
              <a:t>YELLOW only where external approval/rehearsal evidence is still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THE SAME PIPELINE TRAINS AND PREDICTS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Preprocessing is serialized with the estimator, preventing notebook-only inference drift.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1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RAW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district • rooms • size • level • max_levels • lat • lng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26864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required fields • positive values • level ≤ max_levels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3" y="2011680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49055" y="217627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51391" y="217627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FEATURE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651760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floor_ratio = level / max_levels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1" y="4215383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7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PREPROCESS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OneHotEncoder district • numeric passthrough / scaling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62272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26864" y="4215383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selected Random Forest inside sklearn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84463" y="4050791"/>
            <a:ext cx="3401568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49055" y="4215383"/>
            <a:ext cx="310896" cy="310896"/>
          </a:xfrm>
          <a:prstGeom prst="ellipse">
            <a:avLst/>
          </a:prstGeom>
          <a:solidFill>
            <a:srgbClr val="0D9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51391" y="4215383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9D59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4690872"/>
            <a:ext cx="2999232" cy="740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051846"/>
                </a:solidFill>
                <a:latin typeface="Aptos"/>
              </a:rPr>
              <a:t>USD estimate + unseen/range warnings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6035040"/>
            <a:ext cx="9052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D5BFF"/>
                </a:solidFill>
                <a:latin typeface="Aptos"/>
              </a:rPr>
              <a:t>Source proof: src/data.py + src/model.py + artifacts/house_price_pipeline.joblib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"/>
            <a:ext cx="306324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5661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51846"/>
                </a:solidFill>
                <a:latin typeface="Aptos"/>
              </a:rPr>
              <a:t>AI/ML CAPSTONE  /  APPENDIX /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-182880"/>
            <a:ext cx="1645920" cy="164592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0" y="6126480"/>
            <a:ext cx="914400" cy="91440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274320" y="6217920"/>
            <a:ext cx="1005840" cy="1005840"/>
          </a:xfrm>
          <a:prstGeom prst="ellipse">
            <a:avLst/>
          </a:prstGeom>
          <a:solidFill>
            <a:srgbClr val="F0F6FF"/>
          </a:solidFill>
          <a:ln>
            <a:solidFill>
              <a:srgbClr val="DEE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7080" y="3200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051846"/>
                </a:solidFill>
                <a:latin typeface="Aptos"/>
              </a:rP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932688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051846"/>
                </a:solidFill>
                <a:latin typeface="Aptos"/>
              </a:rPr>
              <a:t>ANSWER WITHOUT GUESSING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00200"/>
            <a:ext cx="109728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37599"/>
                </a:solidFill>
                <a:latin typeface="Aptos"/>
              </a:rPr>
              <a:t>Direct answer → exact evidence → limitation or next 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1" y="2221992"/>
            <a:ext cx="310896" cy="310896"/>
          </a:xfrm>
          <a:prstGeom prst="ellipse">
            <a:avLst/>
          </a:prstGeom>
          <a:solidFill>
            <a:srgbClr val="0D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D5BFF"/>
                </a:solidFill>
                <a:latin typeface="Aptos"/>
              </a:rPr>
              <a:t>WHY RANDOM FOREST?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Lowest CV MAE ($11,108).
Open reports/model_comparison.csv.
Trade-off: size and interpretability.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037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2" y="2221992"/>
            <a:ext cx="310896" cy="310896"/>
          </a:xfrm>
          <a:prstGeom prst="ellipse">
            <a:avLst/>
          </a:prstGeom>
          <a:solidFill>
            <a:srgbClr val="D03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D03748"/>
                </a:solidFill>
                <a:latin typeface="Aptos"/>
              </a:rPr>
              <a:t>IS IT CURRENT?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No — 2019 asking-price estimate.
Open README limitations.
Next: current transaction data + time split.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57400"/>
            <a:ext cx="3401568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9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02752" y="2221992"/>
            <a:ext cx="310896" cy="310896"/>
          </a:xfrm>
          <a:prstGeom prst="ellipse">
            <a:avLst/>
          </a:prstGeom>
          <a:solidFill>
            <a:srgbClr val="E89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05088" y="2221992"/>
            <a:ext cx="26883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9D00"/>
                </a:solidFill>
                <a:latin typeface="Aptos"/>
              </a:rPr>
              <a:t>BIGGEST FAILURE?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697480"/>
            <a:ext cx="2999232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51846"/>
                </a:solidFill>
                <a:latin typeface="Aptos"/>
              </a:rPr>
              <a:t>$800k Mirobod actual vs ~$355k predicted.
Open largest_errors.csv.
Missing luxury/condition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08760" y="4892040"/>
            <a:ext cx="9189720" cy="841248"/>
          </a:xfrm>
          <a:prstGeom prst="roundRect">
            <a:avLst/>
          </a:prstGeom>
          <a:solidFill>
            <a:srgbClr val="F0F6FF"/>
          </a:solidFill>
          <a:ln w="15240">
            <a:solidFill>
              <a:srgbClr val="0D9D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83080" y="5157216"/>
            <a:ext cx="8641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D9D59"/>
                </a:solidFill>
                <a:latin typeface="Aptos"/>
              </a:rPr>
              <a:t>Full evidence-anchored answers: docs/defense_question_bank.md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