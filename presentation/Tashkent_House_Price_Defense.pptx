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INDIVIDUAL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6583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51846"/>
                </a:solidFill>
                <a:latin typeface="Aptos"/>
              </a:rPr>
              <a:t>TASHKENT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583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0D5BFF"/>
                </a:solidFill>
                <a:latin typeface="Aptos"/>
              </a:rPr>
              <a:t>APARTMENT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0048"/>
            <a:ext cx="65836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100" b="1">
                <a:solidFill>
                  <a:srgbClr val="051846"/>
                </a:solidFill>
                <a:latin typeface="Aptos"/>
              </a:rPr>
              <a:t>PREDICTOR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11880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637599"/>
                </a:solidFill>
                <a:latin typeface="Aptos"/>
              </a:rPr>
              <a:t>Dilnura Hamdamova  •  AI/ML Fundamentals Capstone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252728"/>
            <a:ext cx="4160520" cy="288036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160934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PROJECT IN ONE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2084831"/>
            <a:ext cx="3355848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51846"/>
                </a:solidFill>
                <a:latin typeface="Aptos"/>
              </a:rPr>
              <a:t>Estimate a current August 2026 Tashkent apartment asking price from observable listing attributes.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694176"/>
            <a:ext cx="3337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03748"/>
                </a:solidFill>
                <a:latin typeface="Aptos"/>
              </a:rPr>
              <a:t>Reference estimate — not an appraisal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4,214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MODELING ROWS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SELECTED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7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7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R²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79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MAE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PROBLEM +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WHO NEEDS IT — AND WHAT DOES ML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Lock the user, input, output, and boundary in under 45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31343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Buyers, sellers, agents, and analysts who need a consistent August 2026 reference estimate.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313432"/>
            <a:ext cx="310896" cy="310896"/>
          </a:xfrm>
          <a:prstGeom prst="ellipse">
            <a:avLst/>
          </a:prstGeom>
          <a:solidFill>
            <a:srgbClr val="2B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BB8FF"/>
                </a:solidFill>
                <a:latin typeface="Aptos"/>
              </a:rPr>
              <a:t>SUPERVISED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Inputs: district, size, rooms, apartment level, building levels, new-build/resale.
Target: asking price.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 +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 estimated August 2026 asking price in USD, plus warnings.
Not a completed sale price, guarantee, or legal appraisal.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5074920"/>
            <a:ext cx="9144000" cy="77724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294376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0D5BFF"/>
                </a:solidFill>
                <a:latin typeface="Aptos"/>
              </a:rPr>
              <a:t>RAW APARTMENT  →  VALIDATED PIPELINE  →  USD ESTIMATE +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DATA +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FROM 4,867 LISTINGS TO A GROUP-SAFE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Privacy-minimized public HATA snapshot from August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4,867 parsed
11 districts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7180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257 invalid + 396
duplicates removed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1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585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5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3,840 groups
80% / 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19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7064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SELECT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5-fold CV
group-safe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0236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5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6929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EVALUATE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353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835 unseen rows
768 groups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4617720"/>
            <a:ext cx="10835640" cy="102412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864608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Leakage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809744"/>
            <a:ext cx="85496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feature+target deduplication  •  identical fingerprints grouped  •  no price/m² leakage  •  preprocessing inside CV  •  test not used for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MODELING +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FOUR APPROACHES — ONE EVIDENCE-BASED CHOICE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Final model selected by the lowest five-fold development CV MAE, not test performance.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2148840"/>
          <a:ext cx="73609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645920"/>
                <a:gridCol w="1645920"/>
                <a:gridCol w="1645920"/>
              </a:tblGrid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MAE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RMSE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R²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Median baseline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$55,604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$123,587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-0.068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Log Ridge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$38,301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$105,755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0.219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$31,298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$80,394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0.556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$33,545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$94,081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0.396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458200" y="2148840"/>
            <a:ext cx="297180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22792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2313432"/>
            <a:ext cx="22585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WHY RANDOM FOREST?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2788920"/>
            <a:ext cx="2569464" cy="2295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Best validation MAE
Captures non-linear size × location interactions
Trade-off: larger and less interpretable than Ridge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RESULT + WEAKNESS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UNSEEN-TEST RESULT — WITH THE FAILURE VISIBLE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The baseline comparison and error case matter more than a polished success claim.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$58,887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RMSE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24.58%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2148840"/>
            <a:ext cx="1874519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2313432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−46.6%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807208"/>
            <a:ext cx="16276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37599"/>
                </a:solidFill>
                <a:latin typeface="Aptos"/>
              </a:rPr>
              <a:t>MAE vs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703320"/>
            <a:ext cx="644652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8952" y="3867911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3867911"/>
            <a:ext cx="57332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LARGEST 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343400"/>
            <a:ext cx="6044183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51846"/>
                </a:solidFill>
                <a:latin typeface="Aptos"/>
              </a:rPr>
              <a:t>Shayhontohur • 160 m² • 3 rooms • new build
Actual: $1,000,000   Predicted: $234,461
Absolute error: $765,539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3703320"/>
            <a:ext cx="425196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25512" y="38679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7848" y="3867911"/>
            <a:ext cx="3538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WHAT IT TEACHES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4343400"/>
            <a:ext cx="384962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Luxury premiums and condition are not observed. Mirobod and Shayhontohur MAE is high; some district slice R² values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ONE REAL INPUT → ONE VISIBLE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Colab route: setup → load saved pipeline → predict → show validation error.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29968"/>
            <a:ext cx="4709160" cy="34290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304288"/>
            <a:ext cx="1417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3840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51846"/>
                </a:solidFill>
                <a:latin typeface="Aptos"/>
              </a:rPr>
              <a:t>District      Chilonzor
Size          70 m²
Rooms         3
Level         3 / 5
Building type Resale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46120"/>
            <a:ext cx="640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29968"/>
            <a:ext cx="5394960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800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9D59"/>
                </a:solidFill>
                <a:latin typeface="Aptos"/>
              </a:rPr>
              <a:t>ESTIMATED AUGUST 2026 ASKING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9748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0D9D59"/>
                </a:solidFill>
                <a:latin typeface="Aptos"/>
              </a:rPr>
              <a:t>$97,098 USD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77056"/>
            <a:ext cx="5394960" cy="15819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133087"/>
            <a:ext cx="1325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03748"/>
                </a:solidFill>
                <a:latin typeface="Aptos"/>
              </a:rPr>
              <a:t>EDGE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553712"/>
            <a:ext cx="4681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51846"/>
                </a:solidFill>
                <a:latin typeface="Aptos"/>
              </a:rPr>
              <a:t>Level 9 / max 5  →  clear ValueError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833872"/>
            <a:ext cx="10104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Open: README Colab badge  •  Run all  •  Do not tour source code unless asked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CLOSE +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HONEST LIMITS — CLEAR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A useful educational model is stronger when its boundary is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212848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Dated asking-price snapshot
No condition / exact building / legal status
Unequal district reliability
Source noise and market 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212848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SAFE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August 2026 reference only
Compare with recent listings
Require human review
No lending, tax, or legal appraisal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212848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NEXT IMPROVEMENT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Collect verified transactions with exact neighborhood, condition, building year, renovation, and legal status; then use a later time holdout.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4983480"/>
            <a:ext cx="841248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5184648"/>
            <a:ext cx="7863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D5BFF"/>
                </a:solidFill>
                <a:latin typeface="Aptos"/>
              </a:rPr>
              <a:t>Thank you. I am ready for one evidence-based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SHOW ME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OFFICIAL CRITERIA → EXACT REPOSITORY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Open docs/capstone_evidence_matrix.md for the complete claim → location → why-proof mapping.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1 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Project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83864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2 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data/README + EDA + src/data.py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1656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3 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model_comparison.csv + src/model.py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34856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9448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4 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test metrics + errors + district slices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5 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demo.ipynb + saved joblib + predict.py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83864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6  Reproduce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clean_run_check + CI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27064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91656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7  Responsible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limitations + data card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6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99448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1784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8  Defense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deck + pitch + question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61888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89D00"/>
                </a:solidFill>
                <a:latin typeface="Aptos"/>
              </a:rPr>
              <a:t>YELLOW only where external approval/rehearsal evidence is still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THE SAME PIPELINE TRAINS AND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Preprocessing is serialized with the estimator, preventing notebook-only inference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district • rooms • size • level • max_levels • new-build/resale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26864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required fields • positive values • level ≤ max_levels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3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49055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391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floor_ratio = level / max_levels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1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7007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PREPROCESS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OneHotEncoder district • numeric passthrough / scaling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selected Random Forest inside sklearn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3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49055" y="4215383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51391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USD estimate + unseen/range warnings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6035040"/>
            <a:ext cx="9052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Source proof: src/data.py + src/model.py + artifacts/house_price_pipeline.joblib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ANSWER WITHOUT GUESSING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Direct answer → exact evidence → limitation or next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22199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WHY RANDOM FOREST?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Lowest group-safe CV MAE ($31,298).
Open reports/model_comparison.csv.
Trade-off: size and interpretability.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3712" y="2221992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IS IT CURRENT?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Yes — dated Aug 2026 asking-price snapshot.
Open data/README.md.
Not a permanently live or completed-sale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BIGGEST FAILURE?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$1m Shayhontohur actual vs ~$234k predicted.
Open largest_errors.csv.
Missing luxury/condition signal.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4892040"/>
            <a:ext cx="918972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157216"/>
            <a:ext cx="8641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D9D59"/>
                </a:solidFill>
                <a:latin typeface="Aptos"/>
              </a:rPr>
              <a:t>Full evidence-anchored answers: docs/defense_question_bank.md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